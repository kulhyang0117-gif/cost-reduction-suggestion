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ABF0"/>
                </a:solidFill>
              </a:rPr>
              <a:t>신성오토텍(주)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ABF0"/>
                </a:solidFill>
              </a:rPr>
              <a:t>대시보드 사용 설명서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29000"/>
            <a:ext cx="5760720" cy="36576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B3D1"/>
                </a:solidFill>
              </a:rPr>
              <a:t>회원가입 · 로그인 · 제안서 작성 · 심사 절차 · 결과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9ABA"/>
                </a:solidFill>
              </a:rPr>
              <a:t>이 설명서 한 권으로 시스템의 모든 기능을 이용하실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80A0"/>
                </a:solidFill>
              </a:rPr>
              <a:t>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957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97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시스템 소개 및 주요 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0136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379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562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회원가입 방법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9736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9631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14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로그인 및 화면 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18104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729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원가절감 제안서 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76472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313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제안서 조회 및 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897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접수대장 활용 (관리자/품질팀)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9320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2978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148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1차 심사 방법 — 품질팀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14300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17957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197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1차 확정 — 공장장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80136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8379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18562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1차 심사 평가 기준 입력 — 품질팀 팀장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459736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49631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514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2차 심사 확정 — 부사장 / 대표이사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118104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1546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1729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검토결과 확인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776472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81304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8313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채점 기준 안내 (100점 만점)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43484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4714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4897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권한별 메뉴 안내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09320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12978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148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자주 묻는 질문 (FAQ)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시스템 소개 및 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신성오토텍(주) 원가절감 제안제도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전 직원이 원가절감 아이디어를 제안하고, 심사·채택·포상까지 온라인으로 관리하는 통합 시스템입니다.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49039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305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제안서 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328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누구나 원가절감 아이디어를
제안서로 작성·제출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965960"/>
            <a:ext cx="3749039" cy="141732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21305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자동 점수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25328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효과금액 입력 시
유형효과점수 자동 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965960"/>
            <a:ext cx="3749039" cy="14173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0" y="21305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심사 워크플로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0" y="25328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1차(품질팀·공장장) →
2차(부사장·대표이사) 단계별 확정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749039" cy="14173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7307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검토결과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1330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등급·포상금 자동 산출
(3~6등급)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566160"/>
            <a:ext cx="3749039" cy="1417320"/>
          </a:xfrm>
          <a:prstGeom prst="rect">
            <a:avLst/>
          </a:prstGeom>
          <a:solidFill>
            <a:srgbClr val="1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1" y="37307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권한 기반 접근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330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직책·부서별 메뉴
자동 노출/제한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8" y="3566160"/>
            <a:ext cx="3749039" cy="1417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0" y="37307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모바일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0" y="41330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모바일 환경에서도
전체 기능 사용 가능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회원가입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Sign-Up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사이트 접속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브라우저에서 대시보드 URL에 접속하면
로그인 화면이 자동으로 나타납니다.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회원가입 클릭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8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로그인 화면 하단
'회원가입' 버튼을 클릭합니다.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5736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정보 입력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5736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896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① 팀 선택
② 이름 입력
③ 이메일 주소 입력
④ 비밀번호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8584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가입 신청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58584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'가입 신청' 버튼 클릭.
'승인 대기 중' 상태로 전환됩니다.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71432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 관리자 승인 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71432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관리자가 승인하면
로그인 가능 상태가 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37560"/>
            <a:ext cx="11521440" cy="3657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입력 항목 안내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94760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313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팀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383133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본인이 소속된 팀을 드롭다운에서 선택 (대표이사 / 부사장 / 공장장 / 각 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142232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178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이름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1788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실명을 입력합니다. 제안서 제출 시 자동으로 반영됩니다.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489704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526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이메일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5262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로그인 ID로 사용됩니다. 중복 등록 불가.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37176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8737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비밀번호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48737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로그인 시 사용할 비밀번호를 입력합니다.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257800"/>
            <a:ext cx="11521440" cy="64008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321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A00"/>
                </a:solidFill>
              </a:rPr>
              <a:t>※ 주의   가입 신청 후 관리자 승인이 완료되어야 로그인할 수 있습니다. 승인은 관리자(품질팀)에게 문의하세요.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로그인 및 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Login &amp; Screen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0292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로그인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① 이메일 주소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② 비밀번호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③ '로그인' 버튼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780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④ '아이디/비밀번호 저장' 체크 시 다음 접속 시 자동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5029200" cy="640080"/>
          </a:xfrm>
          <a:prstGeom prst="rect">
            <a:avLst/>
          </a:prstGeom>
          <a:solidFill>
            <a:srgbClr val="E8F4FF"/>
          </a:solidFill>
          <a:ln w="12700">
            <a:solidFill>
              <a:srgbClr val="4AA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9806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로그인 성공 후 자신의 이름·소속팀·권한 배지가
우측 상단 사이드바에 표시됩니다.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097280"/>
            <a:ext cx="612648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12471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화면 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572768"/>
            <a:ext cx="16459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6184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사이드바 (좌측)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16184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메뉴 탐색, 사용자 정보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965960"/>
            <a:ext cx="16459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011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메인 콘텐츠 (우측)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20116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선택된 메뉴의 화면 표시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359152"/>
            <a:ext cx="16459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4048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상단 헤더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40487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현재 탭 제목, 주요 버튼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752344"/>
            <a:ext cx="1645920" cy="347472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79806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하단 모바일 네비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27980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모바일 환경에서 하단 탭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3364992"/>
            <a:ext cx="612648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39242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사이드바 메뉴 구성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794760"/>
            <a:ext cx="2377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3831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제안제도 관리지침서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8313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전체 공개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142232"/>
            <a:ext cx="237744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4178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종합현황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 / 팀장 / 실장 / 경영진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489704"/>
            <a:ext cx="2377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원가절감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전체 공개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837176"/>
            <a:ext cx="237744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접수대장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873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 · 품질팀 · 공장장 · 부사장 · 대표이사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5184648"/>
            <a:ext cx="2377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5221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검토결과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221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532120"/>
            <a:ext cx="2377440" cy="320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0" y="5568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회원관리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시스템 관리자 전용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원가절감 제안서 작성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How to Write a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사이드바 '원가절감 제안서' 탭에서 신규 작성 및 제출합니다.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  메뉴 진입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사이드바
'원가절감 제안서' 클릭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4248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  신규 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3976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'＋ 신규 제안서 등록'
버튼 클릭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8456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  기본 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48456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8184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제출일 / 소속팀 /
성명 / 제목 입력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12664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5816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  제안 유형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2664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2392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효과구분 / 실시여부 /
유형 / 카테고리 선택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29184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3346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  내용 작성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367588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1368" y="379476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개선 아이디어 /
문제점 / 개선 후 내용 입력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5848" y="329184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346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6  비용 산출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367588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379476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재료비 / 노무비 /
투자비 입력 → 자동 합산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0056" y="329184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93208" y="3346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7  저장 및 제출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0056" y="367588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9784" y="379476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'저장' 버튼 클릭 →
접수대장 자동 등록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solidFill>
            <a:srgbClr val="E8F4FF"/>
          </a:solidFill>
          <a:ln w="19050">
            <a:solidFill>
              <a:srgbClr val="4AA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166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자동저장 기능   작성 중 1분마다 임시저장됩니다. '임시저장 불러오기' 버튼으로 이어 작성할 수 있습니다.
접수번호는 저장 시 자동 생성됩니다 (연도-일련번호 형식).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원가절감 제안서 작성 (2/2) — 주요 입력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Proposal Form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5214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기본 정보 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3749039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제출일 : 제안서 작성 날짜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소속팀 : 본인 소속 팀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성명 : 소속팀 선택 후 이름 선택 (복수 선택 가능)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70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제목(주제) : 제안 내용을 간결하게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553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접수번호 : 저장 시 시스템이 자동 부여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1" y="1097280"/>
            <a:ext cx="3749039" cy="384048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115214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개선 내용 작성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1" y="1481328"/>
            <a:ext cx="3749039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1" y="1645920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개선 아이디어 : 제안의 핵심 내용 서술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0208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문제점 현황 : 현재 문제 상황 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239572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개선 후 내용 : 개선 적용 결과 기술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770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이미지 첨부 : 사진·도면 등 여러 장 첨부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314553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탭 추가 : '+ 탭 추가' 버튼으로 현황/개선 후를 여러 항목으로 분리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2" y="1097280"/>
            <a:ext cx="3749039" cy="38404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2" y="115214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효과 금액 산출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2" y="1481328"/>
            <a:ext cx="3749039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2" y="1645920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재료비 절감액 (원)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2" y="20208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노무비 절감액 (원)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2" y="239572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투자비 (원) 입력 → 절감액에서 차감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2" y="2770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효과금액 = 재료비 + 노무비 - 투자비  (자동 계산)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2" y="314553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효과금액 기준으로 유형효과점수(0~50점)가 자동 산출됨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96128"/>
            <a:ext cx="1152144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418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A00"/>
                </a:solidFill>
              </a:rPr>
              <a:t>※ 필수 항목 : 제출일, 소속팀, 성명, 제목(주제) — 누락 시 저장되지 않습니다.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제안서 조회 및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View &amp; Search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사이드바 '원가절감 제안서' 탭에서 제출된 제안서를 목록으로 확인할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열람 권한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29260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56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일반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5681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본인이 작성한 제안서 + 본인 소속팀 제안서만 열람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04288"/>
            <a:ext cx="29260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40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팀장 / 실장 / 경영진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408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전체 제안서 열람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88336"/>
            <a:ext cx="29260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24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관리자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2491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전체 제안서 열람 + 삭제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목록 주요 기능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6499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015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보기 버튼 (📄)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40156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제안서 전체 내용을 팝업창으로 열람 (인쇄 / Excel 다운로드 가능)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3075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7673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수정 버튼 (✏️)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76732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본인 제안서 수정 — 접수 후에도 수정 가능 (저장 시 자동 업데이트)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9651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13308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삭제 버튼 (🗑️)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13308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관리자만 삭제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6227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4988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연도 필터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49884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상단 연도 선택으로 해당 연도 제안서만 표시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2803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8646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Excel 다운로드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86460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제안서 보기 화면에서 Excel 형태로 내려받기 가능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9379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2303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인쇄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23036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제안서 보기 화면에서 인쇄 레이아웃으로 출력 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접수대장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Register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접수대장은 제안서 저장 시 자동으로 등록됩니다. 관리자·품질팀·공장장·부사장·대표이사만 접근 가능합니다.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접수대장 컬럼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568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접수번호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56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연도-일련번호 (예: 25-001) 자동 부여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49424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860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제출일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286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제안서 작성 날짜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61518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소속팀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615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제안자 소속팀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9443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성명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44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제안자 이름 (복수 가능)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36976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73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제목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2735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 주제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66160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6027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제안서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602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📄 버튼: 제안서 팝업 열람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95344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9319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진행상태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R(미진행) / Y(진행중) / G(완료) 색상 배지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24528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2611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효과구분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261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경영개선 / 공정개선 / 원가절감 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920240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9568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효과금액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95681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절감 금액 (원)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49424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22860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합계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2860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유형효과 + 실현성 + 지속성 자동 합산 점수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578608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261518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6151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점수 구간에 따른 등급 자동 산출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29443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94436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품질팀이 체크박스로 검토 완료 표시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236976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3273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확정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2735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공장장이 최종 확정 체크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566160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36027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2차 점수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60273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1차 확정 후 부사장/대표이사 입력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895344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39319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2차 확정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9319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2차 심사 최종 확정 체크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709160"/>
            <a:ext cx="11521440" cy="3657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736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필터 기능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1480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연도 필터 : 상단 연도 선택으로 해당 연도 데이터만 조회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449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상태 필터 : R / Y / G 진행상태 버튼으로 필터링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75157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⚡ 자동집계 : 버튼 클릭 시 제안서 기준으로 실현성·지속성 점수 자동 반영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0533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행 클릭 : 접수대장 행 클릭 시 해당 제안서 상세 수정 팝업 열림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1차 심사 — 품질팀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1st Review by Quality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접수대장에서 품질팀이 1차 검토를 수행합니다. 품질팀 소속 계정으로 로그인해야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접수대장 진입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사이드바 '접수대장'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점수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유형효과·실현성·지속성
점수 확인 (자동 산출)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점수 수정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필요 시 각 점수 셀
직접 수정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1차 검토 체크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해당 행의 '1차검토'
체크박스에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 저장 자동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체크 즉시 자동 저장
(별도 저장 버튼 불필요)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91840"/>
            <a:ext cx="11521440" cy="3657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19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점수 입력 항목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49039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785615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유형효과점수 (최대 50점)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85615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효과금액에 따라 자동 산출. 수동 수정 가능 (0~50)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96511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133087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실현성 점수 (최대 30점)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13308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품질팀 팀장이 제안서 보기 화면에서 평가 기준 선택 후 저장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43983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480559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지속성 점수 (최대 20점)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448055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품질팀 팀장이 제안서 보기 화면에서 평가 기준 선택 후 저장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791455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828031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1차 합계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4828031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세 점수 합산 자동 표시 (최대 100점)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138927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5175503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1차 등급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517550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합계 점수 기준 등급 자동 산출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577840"/>
            <a:ext cx="11521440" cy="566928"/>
          </a:xfrm>
          <a:prstGeom prst="rect">
            <a:avLst/>
          </a:prstGeom>
          <a:solidFill>
            <a:srgbClr val="E8F4FF"/>
          </a:solidFill>
          <a:ln w="19050">
            <a:solidFill>
              <a:srgbClr val="4AA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⚡ 자동집계 버튼 : 제안서에 저장된 실현성·지속성 기준으로 점수를 자동 반영합니다.
1차 검토 체크 후에는 점수 수정이 불가합니다 (잠금 처리).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1차 확정 — 공장장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1st Confirmation by Factory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품질팀의 1차 검토가 완료된 제안에 대해 공장장이 최종 확정합니다.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공장장 계정 로그인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공장장 부서 계정으로 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접수대장 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사이드바 '접수대장'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1차 검토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1차검토 체크박스가
체크된 행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1차 확정 체크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해당 행의 '1차확정'
체크박스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 2차 심사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확정 즉시 2차 채택점수
입력란 활성화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91840"/>
            <a:ext cx="11521440" cy="36576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19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확정 조건 및 주의사항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74903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검토(품질팀)가 완료된 건만 1차 확정 체크박스가 활성화됩니다.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87367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확정이 완료된 건은 품질팀의 점수 수정이 잠깁니다.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425695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확정 후 '2차 채택점수' 입력란이 활성화됩니다.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64023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전체 일괄 체크 기능 : 테이블 헤더의 체크박스 클릭으로 필터된 전체 행 한 번에 처리 가능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102351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확정 취소 : 체크 해제 시 2차 심사 단계도 함께 초기화됩니다.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1차 심사 평가 기준 입력 — 품질팀 팀장 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Evaluation Criteria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실현성·지속성 평가 기준은 '제안서 보기' 화면에서 품질팀 팀장만 입력할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03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입력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① 품질팀 팀장 계정으로 로그인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② 접수대장 또는 제안서 탭에서 해당 제안의 📄 버튼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③ 제안서 보기 팝업 하단의 '1차 심사 평가 기준 선택' 섹션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④ 실현성 수준 드롭다운 선택 → 세부 점수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⑤ 지속성 수준 드롭다운 선택 → 세부 점수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⑥ '💾 평가 기준 저장' 버튼 클릭 → 점수 자동 반영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508760"/>
            <a:ext cx="585216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실현성 평가 기준 (최대 30점)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920240"/>
            <a:ext cx="1188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21~30점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65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실시가 아주 용이하며 보완 필요성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322576"/>
            <a:ext cx="1188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68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11~20점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3682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실시가 용이하나 보완이 필요함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724912"/>
            <a:ext cx="1188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1~10점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어느 정도 수정 보완을 요함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063240"/>
            <a:ext cx="585216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0906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지속성 평가 기준 (최대 20점)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474720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16~20점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520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장기적으로 유지 (5년 이상)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77056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9227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11~15점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9227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중기적으로 유지 (1년 이상)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279392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325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6~10점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251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단기적으로 유지 (1년 미만)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681728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4727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1~5점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727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일시적으로 유지 (6개월 미만)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230368"/>
            <a:ext cx="1152144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27608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5A00"/>
                </a:solidFill>
              </a:rPr>
              <a:t>※ 이 섹션은 관리자 권한 회원에게만 표시되며, 품질팀 팀장 계정만 편집 및 저장할 수 있습니다.
   (position = 팀장, dept = 품질팀 조건 동시 충족 필요)
   다른 관리자는 기입력된 기준값을 읽기 전용으로만 확인 가능합니다.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2차 심사 확정 — 부사장 / 대표이사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2nd Review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1차 확정이 완료된 제안에 대해 부사장 또는 대표이사가 2차 채택점수를 입력하고 최종 확정합니다.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  계정 로그인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부사장 또는 대표이사
계정으로 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8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  접수대장 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2848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2576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사이드바 '접수대장'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05656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  1차 확정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05656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5384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1차확정 체크박스가
체크된 행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464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4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  2차 점수 입력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8464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2차 채택점수 칸에
점수 직접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544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1272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82712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  2차 확정 체크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1272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해당 행의 '2차확정'
체크박스 체크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6  완료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검토결과 탭에
최종 결과 반영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91840"/>
            <a:ext cx="1152144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19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2차 채택점수 등급 기준 및 포상금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749039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947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3등급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1992" y="3794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2차 점수 기준 최고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100,000원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133087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1788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41788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우수 제안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178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50,000원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17135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56285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5등급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21992" y="456285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장려 제안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56285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30,000원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901183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94690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6등급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21992" y="49469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참여 제안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9469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10,000원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285231"/>
            <a:ext cx="1828800" cy="3474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33095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불채택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21992" y="53309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채택 기준 미달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53309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0원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669279"/>
            <a:ext cx="1828800" cy="3474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71499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재검토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21992" y="571499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추가 검토 필요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57149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0원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검토결과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Review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관리자 계정으로 로그인 시 '검토결과' 탭에서 전체 제안의 최종 결과를 조회합니다.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검토결과 탭 주요 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총괄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65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연도별 총 제안 건수 / 채택 건수 / 총 포상금 합계 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개인별 집계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359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제안자별 등급·점수·포상금 합산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06624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75234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팀별 집계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523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소속팀별 제안 건수·채택률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99816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14553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연도 필터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1455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상단 연도 선택으로 해당 연도 결과만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93008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53872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Excel 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538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검토결과 전체를 Excel 파일로 내려받기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86200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9319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931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인쇄 최적화 레이아웃으로 출력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62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진행상태 배지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64608"/>
            <a:ext cx="2286000" cy="384048"/>
          </a:xfrm>
          <a:prstGeom prst="rect">
            <a:avLst/>
          </a:prstGeom>
          <a:solidFill>
            <a:srgbClr val="E7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9194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  미진행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49194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아직 심사가 시작되지 않은 제안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21808"/>
            <a:ext cx="228600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3766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  진행중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3766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1차 또는 2차 심사가 진행 중인 제안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779008"/>
            <a:ext cx="228600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8338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 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833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2차 확정까지 모든 심사가 완료된 제안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채점 기준 안내 — 100점 만점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Scoring Criteria (100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43000"/>
            <a:ext cx="356616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179576"/>
            <a:ext cx="23180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유형효과점수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5476" y="1216152"/>
            <a:ext cx="11411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AABF0"/>
                </a:solidFill>
              </a:rPr>
              <a:t>50점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64592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효과금액 2,000만원 이상 → 50점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762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1,000만원~2,000만원 → 30~40점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5511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500만원~1,000만원   → 20~30점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9260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100만원~500만원     → 10~20점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30098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100만원 미만        → 0~10점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6758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(효과금액 입력 시 자동 산출)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143000"/>
            <a:ext cx="3566160" cy="50292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179576"/>
            <a:ext cx="23180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실현성 점수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7084" y="1216152"/>
            <a:ext cx="11411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AABF0"/>
                </a:solidFill>
              </a:rPr>
              <a:t>30점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164592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21~30점 : 실시가 아주 용이,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1762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          보완 필요성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5511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11~20점 : 실시가 용이하나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9260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          보완이 필요함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30098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1~10점  : 어느 정도 수정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6758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          보완을 요함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1143000"/>
            <a:ext cx="3566160" cy="5029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8" y="1179576"/>
            <a:ext cx="23180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지속성 점수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8692" y="1216152"/>
            <a:ext cx="11411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AABF0"/>
                </a:solidFill>
              </a:rPr>
              <a:t>20점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90688" y="164592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8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16~20점 : 장기 유지 (5년 이상)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8" y="21762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11~15점 : 중기 유지 (1년 이상)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25511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6~10점  : 단기 유지 (1년 미만)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29260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1~5점   : 일시 유지 (6개월 미만)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590288"/>
            <a:ext cx="11494008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1차 합계 = 유형효과 + 실현성 + 지속성  (최대 100점)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64515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AABF0"/>
                </a:solidFill>
              </a:rPr>
              <a:t>100점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5166360"/>
            <a:ext cx="11494008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1937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1차 점수 구간별 등급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5532120"/>
            <a:ext cx="1141171" cy="3017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10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90점 이상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33472" y="5532120"/>
            <a:ext cx="1141171" cy="301752"/>
          </a:xfrm>
          <a:prstGeom prst="rect">
            <a:avLst/>
          </a:prstGeom>
          <a:solidFill>
            <a:srgbClr val="28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9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6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75~89점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9472" y="5532120"/>
            <a:ext cx="1141171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65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5등급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2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60~74점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5472" y="5532120"/>
            <a:ext cx="1141171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51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6등급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8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50~59점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91472" y="5532120"/>
            <a:ext cx="1141171" cy="3017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7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불채택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4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50점 미만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권한별 메뉴 및 기능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Permission-Based Menu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874519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일반 사용자
(모든 직원)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제안제도 관리지침서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원가절감 제안서 작성·수정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본인 및 소속팀 제안서 열람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제안서 인쇄 / Excel 다운로드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7" y="1097280"/>
            <a:ext cx="1874519" cy="5943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39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팀장 / 실장 / 경영진
(position 기반)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287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7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7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종합현황 탭 접근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7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전체 제안서 목록 열람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7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(접수대장은 별도 조건 필요)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8534" y="1097280"/>
            <a:ext cx="1874519" cy="594360"/>
          </a:xfrm>
          <a:prstGeom prst="rect">
            <a:avLst/>
          </a:prstGeom>
          <a:solidFill>
            <a:srgbClr val="1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6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품질팀 계정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4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4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4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 접근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4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1차 검토 체크박스 조작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4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점수 입력 (검토 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4" y="3346704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(팀장만) 제안서 보기에서
실현성·지속성 기준 입력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2781" y="1097280"/>
            <a:ext cx="1874519" cy="5943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3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공장장 계정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1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1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1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 접근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1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1차 확정 체크박스 조작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1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점수 입력 (확정 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7028" y="1097280"/>
            <a:ext cx="1874519" cy="59436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0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부사장·대표이사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7028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68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68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 접근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68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2차 채택점수 입력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68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2차 확정 체크박스 조작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75" y="1097280"/>
            <a:ext cx="1874519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14427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관리자 (admin)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75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5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모든 기능 접근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15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접수대장·검토결과 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15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전체 제안서 삭제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15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제안서 보기에서 평가 기준 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5" y="3346704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(시스템관리자) 회원관리 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자주 묻는 질문 (FAQ)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Frequently Asked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35331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430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가입 신청 후 로그인이 안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가입 신청은 '승인 대기' 상태이므로 관리자(품질팀)의 승인이 필요합니다.
승인 완료 후 로그인할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35331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1430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비밀번호를 잊어버렸습니다.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4475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현재 비밀번호 재설정 기능은 없습니다. 관리자에게 문의하여
계정을 초기화 요청하세요.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6596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96596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22199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0116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접수대장 메뉴가 보이지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31343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접수대장은 관리자·품질팀·공장장·부사장·대표이사 계정만 표시됩니다.
소속 부서를 확인하거나 관리자에게 권한 부여를 요청하세요.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6596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96596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22199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0116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제안서를 저장했는데 점수가 0점입니다.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31343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효과금액이 '-' 또는 0원이면 유형효과점수가 0점으로 산출됩니다.
실현성·지속성 점수는 품질팀 팀장이 제안서 보기에서 별도 입력합니다.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" y="309067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8036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1차 검토 체크박스가 비활성화됩니다.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18211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품질팀 계정으로 로그인해야 1차 검토가 가능합니다.
또한 이미 1차 확정된 건은 체크박스가 잠깁니다.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83464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83464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309067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88036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이미지 첨부가 안 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18211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제안서 작성 폼에서 '이미지 추가' 버튼을 클릭하여 파일을 선택하세요.
JPG, PNG 등 일반 이미지 파일을 지원합니다.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0332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70332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395935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74904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모바일에서 화면이 깨집니다.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05079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모바일 모드에서는 하단 네비게이션 바로 탭을 전환합니다.
화면 상단 '모바일 모드' 토글 버튼을 활성화하면 최적화됩니다.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70332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70332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395935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4904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1차 심사 평가 기준 입력 섹션이 보이지 않습니다.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05079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 권한이 있어야 제안서 보기에서 해당 섹션이 표시됩니다.
편집은 품질팀 팀장 계정(position=팀장, dept=품질팀)만 가능합니다.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ABF0"/>
                </a:solidFill>
              </a:rPr>
              <a:t>신성오토텍(주) 원가절감 제안제도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60720" cy="36576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B3D1"/>
                </a:solidFill>
              </a:rPr>
              <a:t>궁금한 사항은 품질팀 또는 시스템 관리자에게 문의하세요.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90B0"/>
                </a:solidFill>
              </a:rPr>
              <a:t>이 설명서 한 권으로 회원가입부터 심사 확정까지 모든 업무를 처리할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